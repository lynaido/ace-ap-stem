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/ framing</a:t>
            </a:r>
          </a:p>
          <a:p>
            <a:r>
              <a:t>• Introduce the product in one sentence: “ACE AP STEM is an AI-powered study companion that helps AP STEM students solve problems, understand concepts, and practice until mastery.”</a:t>
            </a:r>
          </a:p>
          <a:p>
            <a:r>
              <a:t>• Explain the tagline: Solve = get a structured solution; Explain = learn the “why” with hints and concept notes; Organize = save everything into a personal study library.</a:t>
            </a:r>
          </a:p>
          <a:p>
            <a:r>
              <a:t>• If showing a screenshot: briefly point to the main input (upload/text) and the outputs (solution, hints, notes, chat).</a:t>
            </a:r>
          </a:p>
          <a:p>
            <a:r>
              <a:t>• Set expectations for the judges: in ~10 minutes you’ll see the student pain point, the product workflow, the key features, and the engineering behind it.</a:t>
            </a:r>
          </a:p>
          <a:p/>
          <a:p>
            <a:r>
              <a:t>Transition</a:t>
            </a:r>
          </a:p>
          <a:p>
            <a:r>
              <a:t>• “Let’s start with the core problem students face today.”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this slide means</a:t>
            </a:r>
          </a:p>
          <a:p>
            <a:r>
              <a:t>• AP STEM problems are often multi-step and students get stuck at a single step, not because they’re lazy, but because they’re missing one concept or one procedure.</a:t>
            </a:r>
          </a:p>
          <a:p>
            <a:r>
              <a:t>• Existing options are fragmented: YouTube is not personalized, textbooks are static, and traditional tutoring is expensive and not available on-demand.</a:t>
            </a:r>
          </a:p>
          <a:p>
            <a:r>
              <a:t>• Students don’t just need answers—they need guided reasoning so they can do the next problem on their own.</a:t>
            </a:r>
          </a:p>
          <a:p>
            <a:r>
              <a:t>• They also need a way to collect and organize practice material; most students lose track of screenshots, notes, and links.</a:t>
            </a:r>
          </a:p>
          <a:p/>
          <a:p>
            <a:r>
              <a:t>How to say it</a:t>
            </a:r>
          </a:p>
          <a:p>
            <a:r>
              <a:t>• Emphasize “24/7 availability” and “learning, not just solving.”</a:t>
            </a:r>
          </a:p>
          <a:p>
            <a:r>
              <a:t>• Anchor the cost numbers to make the motivation obvious.</a:t>
            </a:r>
          </a:p>
          <a:p/>
          <a:p>
            <a:r>
              <a:t>Transition</a:t>
            </a:r>
          </a:p>
          <a:p>
            <a:r>
              <a:t>• “So we built one platform that combines solving, teaching, and practice generation in one place.”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Big idea</a:t>
            </a:r>
          </a:p>
          <a:p>
            <a:r>
              <a:t>• This is the complete workflow: student provides a problem → the system analyzes it → the student chooses how much help they want (full solution, hints, concepts, or chat) → and then practices variants for mastery.</a:t>
            </a:r>
          </a:p>
          <a:p/>
          <a:p>
            <a:r>
              <a:t>Explain each bullet in plain language</a:t>
            </a:r>
          </a:p>
          <a:p>
            <a:r>
              <a:t>• Upload any problem (image or text): supports typical worksheets, screenshots, or handwritten questions.</a:t>
            </a:r>
          </a:p>
          <a:p>
            <a:r>
              <a:t>• Step-by-step solution: not a single paragraph—structured steps with reasoning.</a:t>
            </a:r>
          </a:p>
          <a:p>
            <a:r>
              <a:t>• Progressive hints: guidance that increases in specificity so students still do the thinking.</a:t>
            </a:r>
          </a:p>
          <a:p>
            <a:r>
              <a:t>• Concept notes: mini-lesson tied to that exact problem’s topic.</a:t>
            </a:r>
          </a:p>
          <a:p>
            <a:r>
              <a:t>• Practice variants: generate “same concept, different numbers/scenario” so students can drill.</a:t>
            </a:r>
          </a:p>
          <a:p>
            <a:r>
              <a:t>• AI tutor chat: follow-up questions, clarifications, and Socratic coaching.</a:t>
            </a:r>
          </a:p>
          <a:p/>
          <a:p>
            <a:r>
              <a:t>Transition</a:t>
            </a:r>
          </a:p>
          <a:p>
            <a:r>
              <a:t>• “And to make it useful for real AP students, we support the full range of AP STEM subjects.”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to highlight</a:t>
            </a:r>
          </a:p>
          <a:p>
            <a:r>
              <a:t>• This shows breadth: students can use the same product across multiple AP classes instead of switching tools.</a:t>
            </a:r>
          </a:p>
          <a:p>
            <a:r>
              <a:t>• Mention that the AI is prompted/structured to use subject-appropriate language (units in physics, reaction notation in chemistry, code syntax in CS, statistical terms in stats, etc.).</a:t>
            </a:r>
          </a:p>
          <a:p>
            <a:r>
              <a:t>• If asked “How do you ensure correctness across subjects?”: explain the app constrains the model with subject + difficulty, uses structured output formats, and includes verification steps (like checking units / sanity checks).</a:t>
            </a:r>
          </a:p>
          <a:p/>
          <a:p>
            <a:r>
              <a:t>Transition</a:t>
            </a:r>
          </a:p>
          <a:p>
            <a:r>
              <a:t>• “Now I’ll briefly cover the engineering stack that makes this feel fast, reliable, and production-ready.”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to explain the architecture</a:t>
            </a:r>
          </a:p>
          <a:p>
            <a:r>
              <a:t>• Frontend (React): the student-facing UI—uploading problems, rendering math, navigating steps, and managing saved content.</a:t>
            </a:r>
          </a:p>
          <a:p>
            <a:r>
              <a:t>• Backend (Node/Express + TypeScript): the API layer that handles auth, problem storage, calling OpenAI, and returning structured outputs.</a:t>
            </a:r>
          </a:p>
          <a:p>
            <a:r>
              <a:t>• Database (PostgreSQL via Prisma): stores users, problems, solutions, chat threads, and organization features like folders.</a:t>
            </a:r>
          </a:p>
          <a:p>
            <a:r>
              <a:t>• AI layer (OpenAI GPT-4o): powers vision + reasoning. “4o” is used for more complex tasks; lighter models can be used for simpler tasks to keep costs down.</a:t>
            </a:r>
          </a:p>
          <a:p>
            <a:r>
              <a:t>• Streaming (SSE): lets responses appear gradually instead of waiting for a full completion—improves user experience.</a:t>
            </a:r>
          </a:p>
          <a:p/>
          <a:p>
            <a:r>
              <a:t>Transition</a:t>
            </a:r>
          </a:p>
          <a:p>
            <a:r>
              <a:t>• “Let’s zoom into the frontend first—how the UI is organized and managed.”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Frontend structure (why it matters)</a:t>
            </a:r>
          </a:p>
          <a:p>
            <a:r>
              <a:t>• The components folder is large on purpose: reusable UI parts reduce duplication and make the app easier to extend.</a:t>
            </a:r>
          </a:p>
          <a:p>
            <a:r>
              <a:t>• Layout components keep navigation consistent; problem-solving components handle solution/hints/concepts displays; chat components provide a tutoring panel; notes components power the organization hub.</a:t>
            </a:r>
          </a:p>
          <a:p>
            <a:r>
              <a:t>• Global state is centralized in Context + useReducer. This avoids “prop drilling” and keeps the UI predictable when multiple features interact (solve → save → study mode → chat).</a:t>
            </a:r>
          </a:p>
          <a:p>
            <a:r>
              <a:t>• 100+ action types sounds big, but it means each state transition is explicit and traceable (good for debugging and scaling).</a:t>
            </a:r>
          </a:p>
          <a:p/>
          <a:p>
            <a:r>
              <a:t>If asked “Why not Redux?”</a:t>
            </a:r>
          </a:p>
          <a:p>
            <a:r>
              <a:t>• Context + useReducer is enough for this scope and avoids extra dependencies while keeping predictable state updates.</a:t>
            </a:r>
          </a:p>
          <a:p/>
          <a:p>
            <a:r>
              <a:t>Transition</a:t>
            </a:r>
          </a:p>
          <a:p>
            <a:r>
              <a:t>• “On the backend, we separate responsibilities the same way—controllers, services, and middleware.”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Backend structure (how to describe it)</a:t>
            </a:r>
          </a:p>
          <a:p>
            <a:r>
              <a:t>• Routes define the API endpoints (what the frontend can call).</a:t>
            </a:r>
          </a:p>
          <a:p>
            <a:r>
              <a:t>• Controllers contain the business logic for each feature (problems, chat, auth, etc.).</a:t>
            </a:r>
          </a:p>
          <a:p>
            <a:r>
              <a:t>• Services hold reusable core logic—most importantly the OpenAI integration layer that formats prompts, handles retries/timeouts, and parses structured responses.</a:t>
            </a:r>
          </a:p>
          <a:p>
            <a:r>
              <a:t>• Middleware handles cross-cutting concerns: authentication, request validation, error handling, and security headers.</a:t>
            </a:r>
          </a:p>
          <a:p/>
          <a:p>
            <a:r>
              <a:t>Security &amp; reliability callout</a:t>
            </a:r>
          </a:p>
          <a:p>
            <a:r>
              <a:t>• Mention Helmet, CORS, and rate limiting as standard production protections.</a:t>
            </a:r>
          </a:p>
          <a:p>
            <a:r>
              <a:t>• TypeScript helps prevent bugs by catching mismatched types at build time.</a:t>
            </a:r>
          </a:p>
          <a:p/>
          <a:p>
            <a:r>
              <a:t>Transition</a:t>
            </a:r>
          </a:p>
          <a:p>
            <a:r>
              <a:t>• “All of this is backed by a relational schema designed around the student workflow.”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Database design in simple terms</a:t>
            </a:r>
          </a:p>
          <a:p>
            <a:r>
              <a:t>• The schema mirrors what the user does:</a:t>
            </a:r>
          </a:p>
          <a:p>
            <a:r>
              <a:t>  1) Users authenticate.</a:t>
            </a:r>
          </a:p>
          <a:p>
            <a:r>
              <a:t>  2) They create problems (from text or image).</a:t>
            </a:r>
          </a:p>
          <a:p>
            <a:r>
              <a:t>  3) Each problem can generate solutions, hints, and concept notes.</a:t>
            </a:r>
          </a:p>
          <a:p>
            <a:r>
              <a:t>  4) They chat in threads tied to a problem.</a:t>
            </a:r>
          </a:p>
          <a:p>
            <a:r>
              <a:t>  5) They save content into folders and track practice sessions.</a:t>
            </a:r>
          </a:p>
          <a:p/>
          <a:p>
            <a:r>
              <a:t>Why PostgreSQL + Prisma</a:t>
            </a:r>
          </a:p>
          <a:p>
            <a:r>
              <a:t>• PostgreSQL is reliable and supports relational integrity (important for linking problems → outputs → saved items).</a:t>
            </a:r>
          </a:p>
          <a:p>
            <a:r>
              <a:t>• Prisma provides type-safe queries and migrations, reducing runtime errors.</a:t>
            </a:r>
          </a:p>
          <a:p/>
          <a:p>
            <a:r>
              <a:t>Integrity/performance</a:t>
            </a:r>
          </a:p>
          <a:p>
            <a:r>
              <a:t>• Cascade deletes keep data clean if a user deletes a problem.</a:t>
            </a:r>
          </a:p>
          <a:p>
            <a:r>
              <a:t>• Indexing helps fast listing/searching as content grows.</a:t>
            </a:r>
          </a:p>
          <a:p/>
          <a:p>
            <a:r>
              <a:t>Transition</a:t>
            </a:r>
          </a:p>
          <a:p>
            <a:r>
              <a:t>• “Now we’ll walk through the core feature: solving an AP STEM problem end-to-end.”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 walkthrough (what happens behind the scenes)</a:t>
            </a:r>
          </a:p>
          <a:p>
            <a:r>
              <a:t>• Step 1: The student uploads an image or types text. This becomes a Problem record with metadata (subject, difficulty, tags).</a:t>
            </a:r>
          </a:p>
          <a:p>
            <a:r>
              <a:t>• Step 2: The student selects the AP subject and difficulty. This is important because it constrains how the AI should respond.</a:t>
            </a:r>
          </a:p>
          <a:p>
            <a:r>
              <a:t>• Step 3: The backend sends the problem (and image if provided) to GPT-4o. For images, the model uses vision to understand the question.</a:t>
            </a:r>
          </a:p>
          <a:p>
            <a:r>
              <a:t>• Step 4: The AI returns a structured response: solution steps, hints, and concept notes (depending on what the user requests).</a:t>
            </a:r>
          </a:p>
          <a:p/>
          <a:p>
            <a:r>
              <a:t>What judges care about</a:t>
            </a:r>
          </a:p>
          <a:p>
            <a:r>
              <a:t>• Emphasize structure and clarity: we do not return a messy paragraph; we return a predictable format the UI can render.</a:t>
            </a:r>
          </a:p>
          <a:p/>
          <a:p>
            <a:r>
              <a:t>Transition</a:t>
            </a:r>
          </a:p>
          <a:p>
            <a:r>
              <a:t>• “Here’s what the student actually sees when a solution comes back.”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output experience</a:t>
            </a:r>
          </a:p>
          <a:p>
            <a:r>
              <a:t>• The solution is broken into numbered steps with titles so the student can follow the logic.</a:t>
            </a:r>
          </a:p>
          <a:p>
            <a:r>
              <a:t>• Each step includes explanation + the math. KaTeX renders LaTeX so formulas look like a textbook, not plain text.</a:t>
            </a:r>
          </a:p>
          <a:p>
            <a:r>
              <a:t>• The student can navigate step-by-step or expand “Show All” to view the full solution at once.</a:t>
            </a:r>
          </a:p>
          <a:p>
            <a:r>
              <a:t>• The final answer is clearly separated, and a confidence score is shown to signal that AI output should still be checked (promotes responsible usage).</a:t>
            </a:r>
          </a:p>
          <a:p/>
          <a:p>
            <a:r>
              <a:t>If asked “Where does confidence come from?”</a:t>
            </a:r>
          </a:p>
          <a:p>
            <a:r>
              <a:t>• It can be a model-generated self-assessment based on internal checks. It’s a signal, not a guarantee. Students are encouraged to verify with course materials.</a:t>
            </a:r>
          </a:p>
          <a:p/>
          <a:p>
            <a:r>
              <a:t>Transition</a:t>
            </a:r>
          </a:p>
          <a:p>
            <a:r>
              <a:t>• “But many students don’t want the full solution immediately—so we added progressive hints.”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hints matter</a:t>
            </a:r>
          </a:p>
          <a:p>
            <a:r>
              <a:t>• The goal is to teach problem-solving, not just provide an answer.</a:t>
            </a:r>
          </a:p>
          <a:p>
            <a:r>
              <a:t>• Level 1 (Conceptual): points the student to the right principle (e.g., conservation of energy, stoichiometry, derivative rules).</a:t>
            </a:r>
          </a:p>
          <a:p>
            <a:r>
              <a:t>• Level 2 (Procedural): suggests the approach (set up equation, draw diagram, choose distribution, etc.).</a:t>
            </a:r>
          </a:p>
          <a:p>
            <a:r>
              <a:t>• Level 3 (Diagnostic): calls out the specific step they need (compute acceleration, isolate variable, plug values).</a:t>
            </a:r>
          </a:p>
          <a:p>
            <a:r>
              <a:t>• Level 4 (Answer): optional full solution when they truly need it.</a:t>
            </a:r>
          </a:p>
          <a:p/>
          <a:p>
            <a:r>
              <a:t>How to present it</a:t>
            </a:r>
          </a:p>
          <a:p>
            <a:r>
              <a:t>• Use the phrase “scaffolding” or “guided learning.”</a:t>
            </a:r>
          </a:p>
          <a:p>
            <a:r>
              <a:t>• Explain that this reduces dependency and increases mastery.</a:t>
            </a:r>
          </a:p>
          <a:p/>
          <a:p>
            <a:r>
              <a:t>Transition</a:t>
            </a:r>
          </a:p>
          <a:p>
            <a:r>
              <a:t>• “If a student is missing the underlying concept entirely, hints aren’t enough—so we generate concept notes.”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concept notes do</a:t>
            </a:r>
          </a:p>
          <a:p>
            <a:r>
              <a:t>• These are mini-lessons generated specifically for the exact topic in the uploaded problem.</a:t>
            </a:r>
          </a:p>
          <a:p>
            <a:r>
              <a:t>• The six note types serve different learning needs:</a:t>
            </a:r>
          </a:p>
          <a:p>
            <a:r>
              <a:t>  - Definition: what the idea is, in clear language.</a:t>
            </a:r>
          </a:p>
          <a:p>
            <a:r>
              <a:t>  - Formula: the key equations + what each variable means.</a:t>
            </a:r>
          </a:p>
          <a:p>
            <a:r>
              <a:t>  - Example: a worked mini-problem to show application.</a:t>
            </a:r>
          </a:p>
          <a:p>
            <a:r>
              <a:t>  - Tip: a strategy students can reuse.</a:t>
            </a:r>
          </a:p>
          <a:p>
            <a:r>
              <a:t>  - Common mistake: what students usually do wrong and how to avoid it.</a:t>
            </a:r>
          </a:p>
          <a:p>
            <a:r>
              <a:t>  - Application: why it matters in the real world (helps retention).</a:t>
            </a:r>
          </a:p>
          <a:p/>
          <a:p>
            <a:r>
              <a:t>Why judges should care</a:t>
            </a:r>
          </a:p>
          <a:p>
            <a:r>
              <a:t>• This turns “answering homework” into “learning the unit.” It’s more aligned with education outcomes.</a:t>
            </a:r>
          </a:p>
          <a:p/>
          <a:p>
            <a:r>
              <a:t>Transition</a:t>
            </a:r>
          </a:p>
          <a:p>
            <a:r>
              <a:t>• “And when students have follow-up questions, they can ask them in real time using the tutor chat.”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tutor chat (how to explain it)</a:t>
            </a:r>
          </a:p>
          <a:p>
            <a:r>
              <a:t>• The chat panel lives alongside the problem so it stays context-aware.</a:t>
            </a:r>
          </a:p>
          <a:p>
            <a:r>
              <a:t>• It can use a Socratic approach: ask guiding questions instead of giving the final answer immediately.</a:t>
            </a:r>
          </a:p>
          <a:p>
            <a:r>
              <a:t>• Responses stream in real-time so it feels like a live tutor rather than a delayed chatbot.</a:t>
            </a:r>
          </a:p>
          <a:p>
            <a:r>
              <a:t>• Chat history is saved in threads, so students can come back later and review explanations.</a:t>
            </a:r>
          </a:p>
          <a:p/>
          <a:p>
            <a:r>
              <a:t>Technical detail to mention (only if needed)</a:t>
            </a:r>
          </a:p>
          <a:p>
            <a:r>
              <a:t>• SSE (Server-Sent Events) powers streaming.</a:t>
            </a:r>
          </a:p>
          <a:p>
            <a:r>
              <a:t>• The backend selects GPT-4o for complex reasoning and 4o-mini for simpler or cheaper turns.</a:t>
            </a:r>
          </a:p>
          <a:p/>
          <a:p>
            <a:r>
              <a:t>Transition</a:t>
            </a:r>
          </a:p>
          <a:p>
            <a:r>
              <a:t>• “After learning, students need repetition—so we built Study Mode to generate practice.”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Study mode (the mastery loop)</a:t>
            </a:r>
          </a:p>
          <a:p>
            <a:r>
              <a:t>• Students choose a saved “anchor” problem—something representative of a concept they’re studying.</a:t>
            </a:r>
          </a:p>
          <a:p>
            <a:r>
              <a:t>• The AI generates multiple unique variants that test the same concept but change the scenario, numbers, or wording.</a:t>
            </a:r>
          </a:p>
          <a:p>
            <a:r>
              <a:t>• This is critical because the AP exam rewards transfer: recognizing the concept in new contexts.</a:t>
            </a:r>
          </a:p>
          <a:p>
            <a:r>
              <a:t>• The three modes adjust the learning style:</a:t>
            </a:r>
          </a:p>
          <a:p>
            <a:r>
              <a:t>  - Quick Practice: repetition and speed.</a:t>
            </a:r>
          </a:p>
          <a:p>
            <a:r>
              <a:t>  - Deep Dive: more explanation and conceptual checks.</a:t>
            </a:r>
          </a:p>
          <a:p>
            <a:r>
              <a:t>  - Exam Simulation: timed practice and difficulty ramp.</a:t>
            </a:r>
          </a:p>
          <a:p/>
          <a:p>
            <a:r>
              <a:t>How to present it</a:t>
            </a:r>
          </a:p>
          <a:p>
            <a:r>
              <a:t>• Emphasize “unlimited practice from one problem” as a major differentiator.</a:t>
            </a:r>
          </a:p>
          <a:p/>
          <a:p>
            <a:r>
              <a:t>Transition</a:t>
            </a:r>
          </a:p>
          <a:p>
            <a:r>
              <a:t>• “To make all of this usable long-term, we added a Notes Hub so students can organize everything.”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Notes Hub (organization is part of learning)</a:t>
            </a:r>
          </a:p>
          <a:p>
            <a:r>
              <a:t>• Students can save solutions, hints, or concept notes—not just the original problem.</a:t>
            </a:r>
          </a:p>
          <a:p>
            <a:r>
              <a:t>• Folders let them structure content by unit, exam date, or class.</a:t>
            </a:r>
          </a:p>
          <a:p>
            <a:r>
              <a:t>• Stars mark high-value items for quick review.</a:t>
            </a:r>
          </a:p>
          <a:p>
            <a:r>
              <a:t>• Search and filters help them find material later (subject, difficulty, tags).</a:t>
            </a:r>
          </a:p>
          <a:p>
            <a:r>
              <a:t>• Drag-and-drop makes organization feel like a modern productivity app.</a:t>
            </a:r>
          </a:p>
          <a:p/>
          <a:p>
            <a:r>
              <a:t>Why this matters</a:t>
            </a:r>
          </a:p>
          <a:p>
            <a:r>
              <a:t>• Students often lose content across screenshots and random documents. This turns AI output into a reusable study library.</a:t>
            </a:r>
          </a:p>
          <a:p/>
          <a:p>
            <a:r>
              <a:t>Transition</a:t>
            </a:r>
          </a:p>
          <a:p>
            <a:r>
              <a:t>• “Since this is a student product, security and authentication are critical—here’s what we implemented.”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Authentication &amp; security (explain at a high level)</a:t>
            </a:r>
          </a:p>
          <a:p>
            <a:r>
              <a:t>• JWT access tokens provide short-lived authentication (60 minutes) to reduce risk if a token is exposed.</a:t>
            </a:r>
          </a:p>
          <a:p>
            <a:r>
              <a:t>• Refresh tokens in httpOnly cookies reduce exposure to XSS compared to storing tokens in localStorage.</a:t>
            </a:r>
          </a:p>
          <a:p>
            <a:r>
              <a:t>• Google OAuth adds a frictionless login option for students.</a:t>
            </a:r>
          </a:p>
          <a:p/>
          <a:p>
            <a:r>
              <a:t>Security layers (simple explanation)</a:t>
            </a:r>
          </a:p>
          <a:p>
            <a:r>
              <a:t>• Helmet sets safer default HTTP headers.</a:t>
            </a:r>
          </a:p>
          <a:p>
            <a:r>
              <a:t>• CORS whitelist restricts what frontends can call the API.</a:t>
            </a:r>
          </a:p>
          <a:p>
            <a:r>
              <a:t>• Rate limiting prevents brute force or abuse.</a:t>
            </a:r>
          </a:p>
          <a:p>
            <a:r>
              <a:t>• Bcrypt securely hashes passwords (never store plaintext).</a:t>
            </a:r>
          </a:p>
          <a:p>
            <a:r>
              <a:t>• Zod validates inputs so malformed or malicious requests get rejected.</a:t>
            </a:r>
          </a:p>
          <a:p>
            <a:r>
              <a:t>• Prisma helps prevent SQL injection by using parameterized queries.</a:t>
            </a:r>
          </a:p>
          <a:p/>
          <a:p>
            <a:r>
              <a:t>Transition</a:t>
            </a:r>
          </a:p>
          <a:p>
            <a:r>
              <a:t>• “Now I’ll show how the AI integration is structured so it’s reliable, testable, and maintainable.”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 integration deep dive (how to explain without getting lost)</a:t>
            </a:r>
          </a:p>
          <a:p>
            <a:r>
              <a:t>• All AI calls are centralized in one service file (openaiService.ts). This is important for consistency and maintainability.</a:t>
            </a:r>
          </a:p>
          <a:p>
            <a:r>
              <a:t>• Each function corresponds to an output type:</a:t>
            </a:r>
          </a:p>
          <a:p>
            <a:r>
              <a:t>  - generateSolution(): structured steps + final answer</a:t>
            </a:r>
          </a:p>
          <a:p>
            <a:r>
              <a:t>  - generateHints(): four-level hints</a:t>
            </a:r>
          </a:p>
          <a:p>
            <a:r>
              <a:t>  - generateConceptNotes(): multiple note types</a:t>
            </a:r>
          </a:p>
          <a:p>
            <a:r>
              <a:t>  - generateStudyVariants(): practice generation</a:t>
            </a:r>
          </a:p>
          <a:p>
            <a:r>
              <a:t>  - generateChatResponse(): conversational tutoring</a:t>
            </a:r>
          </a:p>
          <a:p/>
          <a:p>
            <a:r>
              <a:t>Reliability features</a:t>
            </a:r>
          </a:p>
          <a:p>
            <a:r>
              <a:t>• Model selection: heavier model for complex tasks, lighter model for simple tasks.</a:t>
            </a:r>
          </a:p>
          <a:p>
            <a:r>
              <a:t>• Timeouts + fallbacks: avoids hanging requests.</a:t>
            </a:r>
          </a:p>
          <a:p>
            <a:r>
              <a:t>• Retry logic: handles transient API errors.</a:t>
            </a:r>
          </a:p>
          <a:p>
            <a:r>
              <a:t>• Structured output formatting: makes responses parseable and consistent.</a:t>
            </a:r>
          </a:p>
          <a:p/>
          <a:p>
            <a:r>
              <a:t>Transition</a:t>
            </a:r>
          </a:p>
          <a:p>
            <a:r>
              <a:t>• “A big part of usability is solving problems from images—here’s how image processing works.”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 pipeline (what happens step-by-step)</a:t>
            </a:r>
          </a:p>
          <a:p>
            <a:r>
              <a:t>• Users can upload JPG/PNG or PDFs (up to 10MB).</a:t>
            </a:r>
          </a:p>
          <a:p>
            <a:r>
              <a:t>• The file is stored as binary in PostgreSQL (simple MVP approach; can move to S3 later).</a:t>
            </a:r>
          </a:p>
          <a:p>
            <a:r>
              <a:t>• The backend converts the file to base64 to send to the OpenAI API.</a:t>
            </a:r>
          </a:p>
          <a:p>
            <a:r>
              <a:t>• GPT-4o Vision reads the image and extracts the problem statement + relevant data.</a:t>
            </a:r>
          </a:p>
          <a:p>
            <a:r>
              <a:t>• This enables solving printed worksheets and even handwritten problems.</a:t>
            </a:r>
          </a:p>
          <a:p>
            <a:r>
              <a:t>• Extracted text can also be stored so the app can search and organize image-based problems later.</a:t>
            </a:r>
          </a:p>
          <a:p/>
          <a:p>
            <a:r>
              <a:t>Transition</a:t>
            </a:r>
          </a:p>
          <a:p>
            <a:r>
              <a:t>• “To make the experience feel fast and ‘alive’, we stream responses in real time using SSE.”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SSE streaming (how to explain clearly)</a:t>
            </a:r>
          </a:p>
          <a:p>
            <a:r>
              <a:t>• Without streaming: the user waits for the full model output, then sees everything at once—feels slow.</a:t>
            </a:r>
          </a:p>
          <a:p>
            <a:r>
              <a:t>• With SSE: the backend sends small chunks as they arrive, and the frontend renders them immediately—feels like real-time typing.</a:t>
            </a:r>
          </a:p>
          <a:p/>
          <a:p>
            <a:r>
              <a:t>Why SSE instead of WebSockets (simple)</a:t>
            </a:r>
          </a:p>
          <a:p>
            <a:r>
              <a:t>• SSE is one-way (server → client), which is exactly what we need for streaming model output.</a:t>
            </a:r>
          </a:p>
          <a:p>
            <a:r>
              <a:t>• It’s simpler to implement and has native browser support.</a:t>
            </a:r>
          </a:p>
          <a:p/>
          <a:p>
            <a:r>
              <a:t>What the code snippet shows</a:t>
            </a:r>
          </a:p>
          <a:p>
            <a:r>
              <a:t>• res.write sends “data:” events repeatedly.</a:t>
            </a:r>
          </a:p>
          <a:p>
            <a:r>
              <a:t>• The frontend EventSource listens and appends chunks to the UI.</a:t>
            </a:r>
          </a:p>
          <a:p/>
          <a:p>
            <a:r>
              <a:t>Transition</a:t>
            </a:r>
          </a:p>
          <a:p>
            <a:r>
              <a:t>• “Streaming is only useful if the app’s state is managed cleanly—here’s how we handle state.”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management (why it’s necessary)</a:t>
            </a:r>
          </a:p>
          <a:p>
            <a:r>
              <a:t>• This app has multiple interacting features: auth, current problem, AI outputs, chat threads, saved items, folders, and study sessions.</a:t>
            </a:r>
          </a:p>
          <a:p>
            <a:r>
              <a:t>• Context + useReducer gives a single predictable state container.</a:t>
            </a:r>
          </a:p>
          <a:p>
            <a:r>
              <a:t>• Actions like SET_PROBLEM_SOLUTION or ADD_CHAT_MESSAGE make state changes explicit, so bugs are easier to trace.</a:t>
            </a:r>
          </a:p>
          <a:p>
            <a:r>
              <a:t>• A global error/loading state supports consistent UX (spinners, toasts, retry buttons).</a:t>
            </a:r>
          </a:p>
          <a:p/>
          <a:p>
            <a:r>
              <a:t>If asked “Is 1000+ lines too big?”</a:t>
            </a:r>
          </a:p>
          <a:p>
            <a:r>
              <a:t>• It’s large, but organized by action types and reducers. As the app grows, it can be split into multiple contexts (auth, problems, notes) without changing the core pattern.</a:t>
            </a:r>
          </a:p>
          <a:p/>
          <a:p>
            <a:r>
              <a:t>Transition</a:t>
            </a:r>
          </a:p>
          <a:p>
            <a:r>
              <a:t>• “This state is updated through a REST API layer—here’s the endpoint design.”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API design (what to say)</a:t>
            </a:r>
          </a:p>
          <a:p>
            <a:r>
              <a:t>• The API is organized by feature: auth, problems, and chat.</a:t>
            </a:r>
          </a:p>
          <a:p>
            <a:r>
              <a:t>• Auth endpoints handle registration/login/reset.</a:t>
            </a:r>
          </a:p>
          <a:p>
            <a:r>
              <a:t>• Problems endpoints cover creating problems and generating solutions/hints.</a:t>
            </a:r>
          </a:p>
          <a:p>
            <a:r>
              <a:t>• Chat endpoints manage threads and streaming.</a:t>
            </a:r>
          </a:p>
          <a:p/>
          <a:p>
            <a:r>
              <a:t>Why RESTful matters</a:t>
            </a:r>
          </a:p>
          <a:p>
            <a:r>
              <a:t>• Clear, predictable endpoints make it easy to test (Postman), document (Swagger), and integrate with future mobile clients.</a:t>
            </a:r>
          </a:p>
          <a:p>
            <a:r>
              <a:t>• “40+ endpoints” indicates breadth: not just a demo feature; it’s a full platform.</a:t>
            </a:r>
          </a:p>
          <a:p/>
          <a:p>
            <a:r>
              <a:t>Transition</a:t>
            </a:r>
          </a:p>
          <a:p>
            <a:r>
              <a:t>• “Next, reliability—how we handle errors cleanly on both backend and frontend.”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Error handling (how to explain)</a:t>
            </a:r>
          </a:p>
          <a:p>
            <a:r>
              <a:t>Backend</a:t>
            </a:r>
          </a:p>
          <a:p>
            <a:r>
              <a:t>• AppError standardizes errors with status codes and messages.</a:t>
            </a:r>
          </a:p>
          <a:p>
            <a:r>
              <a:t>• asyncHandler ensures unhandled promise rejections don’t crash the server.</a:t>
            </a:r>
          </a:p>
          <a:p>
            <a:r>
              <a:t>• Logging (Pino) captures structured errors for debugging.</a:t>
            </a:r>
          </a:p>
          <a:p>
            <a:r>
              <a:t>• Different error detail in dev vs prod prevents leaking sensitive information.</a:t>
            </a:r>
          </a:p>
          <a:p/>
          <a:p>
            <a:r>
              <a:t>Frontend</a:t>
            </a:r>
          </a:p>
          <a:p>
            <a:r>
              <a:t>• Every async call is wrapped in try/catch.</a:t>
            </a:r>
          </a:p>
          <a:p>
            <a:r>
              <a:t>• Toasts provide immediate feedback to the user.</a:t>
            </a:r>
          </a:p>
          <a:p>
            <a:r>
              <a:t>• Global error state allows consistent UI behavior (retry prompts, fallback screens).</a:t>
            </a:r>
          </a:p>
          <a:p>
            <a:r>
              <a:t>• “Graceful degradation” means the user can still navigate or try again instead of the app breaking.</a:t>
            </a:r>
          </a:p>
          <a:p/>
          <a:p>
            <a:r>
              <a:t>Transition</a:t>
            </a:r>
          </a:p>
          <a:p>
            <a:r>
              <a:t>• “We also made performance choices so this can scale beyond a small demo.”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Performance optimizations (explain practical impact)</a:t>
            </a:r>
          </a:p>
          <a:p>
            <a:r>
              <a:t>Backend</a:t>
            </a:r>
          </a:p>
          <a:p>
            <a:r>
              <a:t>• Indexing and pagination keep response times fast as the number of problems/notes grows.</a:t>
            </a:r>
          </a:p>
          <a:p>
            <a:r>
              <a:t>• Gzip compression reduces payload size.</a:t>
            </a:r>
          </a:p>
          <a:p>
            <a:r>
              <a:t>• Connection pooling avoids expensive reconnects.</a:t>
            </a:r>
          </a:p>
          <a:p>
            <a:r>
              <a:t>• Timeouts prevent the API from hanging on long AI calls.</a:t>
            </a:r>
          </a:p>
          <a:p/>
          <a:p>
            <a:r>
              <a:t>Frontend</a:t>
            </a:r>
          </a:p>
          <a:p>
            <a:r>
              <a:t>• useMemo/useCallback reduce unnecessary re-renders, especially for complex solution views.</a:t>
            </a:r>
          </a:p>
          <a:p>
            <a:r>
              <a:t>• Lazy loading can reduce initial load times (good roadmap item if not already implemented).</a:t>
            </a:r>
          </a:p>
          <a:p/>
          <a:p>
            <a:r>
              <a:t>AI optimization</a:t>
            </a:r>
          </a:p>
          <a:p>
            <a:r>
              <a:t>• Model selection is the biggest cost/performance lever.</a:t>
            </a:r>
          </a:p>
          <a:p>
            <a:r>
              <a:t>• Context length limits reduce token usage and speed up responses.</a:t>
            </a:r>
          </a:p>
          <a:p>
            <a:r>
              <a:t>• Fallbacks handle timeouts so the user isn’t stuck.</a:t>
            </a:r>
          </a:p>
          <a:p/>
          <a:p>
            <a:r>
              <a:t>Transition</a:t>
            </a:r>
          </a:p>
          <a:p>
            <a:r>
              <a:t>• “To make this maintainable long-term, we kept strong code quality practices.”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quality (what judges want to hear)</a:t>
            </a:r>
          </a:p>
          <a:p>
            <a:r>
              <a:t>• TypeScript strict mode reduces runtime bugs by catching issues during development.</a:t>
            </a:r>
          </a:p>
          <a:p>
            <a:r>
              <a:t>• Clear separation of concerns (routes/controllers/services) keeps the codebase understandable.</a:t>
            </a:r>
          </a:p>
          <a:p>
            <a:r>
              <a:t>• Consistent naming and single-responsibility components make onboarding new developers easier.</a:t>
            </a:r>
          </a:p>
          <a:p>
            <a:r>
              <a:t>• Swagger/OpenAPI documentation makes endpoints testable and clear to future contributors.</a:t>
            </a:r>
          </a:p>
          <a:p>
            <a:r>
              <a:t>• README files and inline comments help explain non-obvious logic (especially around AI prompting and parsing).</a:t>
            </a:r>
          </a:p>
          <a:p/>
          <a:p>
            <a:r>
              <a:t>Transition</a:t>
            </a:r>
          </a:p>
          <a:p>
            <a:r>
              <a:t>• “Now I’ll summarize the user journey from start to finish—what a student actually does in the app.”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End-to-end user journey (tell it as a story)</a:t>
            </a:r>
          </a:p>
          <a:p>
            <a:r>
              <a:t>1) Authentication</a:t>
            </a:r>
          </a:p>
          <a:p>
            <a:r>
              <a:t>• Student signs up or uses Google OAuth; secure login creates a session.</a:t>
            </a:r>
          </a:p>
          <a:p/>
          <a:p>
            <a:r>
              <a:t>2) Problem Solving</a:t>
            </a:r>
          </a:p>
          <a:p>
            <a:r>
              <a:t>• Student uploads or types a question, chooses subject/difficulty, and receives outputs:</a:t>
            </a:r>
          </a:p>
          <a:p>
            <a:r>
              <a:t>  - Solution for full guidance</a:t>
            </a:r>
          </a:p>
          <a:p>
            <a:r>
              <a:t>  - Hints for scaffolding</a:t>
            </a:r>
          </a:p>
          <a:p>
            <a:r>
              <a:t>  - Concept notes for learning</a:t>
            </a:r>
          </a:p>
          <a:p>
            <a:r>
              <a:t>  - Chat for follow-up questions</a:t>
            </a:r>
          </a:p>
          <a:p/>
          <a:p>
            <a:r>
              <a:t>3) Organization</a:t>
            </a:r>
          </a:p>
          <a:p>
            <a:r>
              <a:t>• Student saves key outputs to folders, stars favorites, and uses search/filters to review later.</a:t>
            </a:r>
          </a:p>
          <a:p/>
          <a:p>
            <a:r>
              <a:t>4) Practice</a:t>
            </a:r>
          </a:p>
          <a:p>
            <a:r>
              <a:t>• Student enters study mode, generates variants, and repeats until comfortable.</a:t>
            </a:r>
          </a:p>
          <a:p/>
          <a:p>
            <a:r>
              <a:t>Transition</a:t>
            </a:r>
          </a:p>
          <a:p>
            <a:r>
              <a:t>• “These features together create our competitive advantage—here’s what makes ACE different.”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Competitive advantages (how to frame it)</a:t>
            </a:r>
          </a:p>
          <a:p>
            <a:r>
              <a:t>• “Four outputs from one problem” is the core differentiator: it’s not just Q&amp;A; it’s a learning system.</a:t>
            </a:r>
          </a:p>
          <a:p>
            <a:r>
              <a:t>• Progressive hints emphasize skill-building and prevent instant answer dependency.</a:t>
            </a:r>
          </a:p>
          <a:p>
            <a:r>
              <a:t>• Practice variants solve the “I need more problems” issue without searching across websites.</a:t>
            </a:r>
          </a:p>
          <a:p>
            <a:r>
              <a:t>• Vision support unlocks real student behavior: taking a picture of homework or a worksheet.</a:t>
            </a:r>
          </a:p>
          <a:p>
            <a:r>
              <a:t>• Notes Hub turns AI output into an organized study resource, which most AI tutor apps don’t do well.</a:t>
            </a:r>
          </a:p>
          <a:p/>
          <a:p>
            <a:r>
              <a:t>Transition</a:t>
            </a:r>
          </a:p>
          <a:p>
            <a:r>
              <a:t>• “Building this required solving real engineering problems—here are the key ones we overcame.”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Engineering achievements (keep it concrete)</a:t>
            </a:r>
          </a:p>
          <a:p>
            <a:r>
              <a:t>• Real-time streaming: implemented SSE so the user experience feels fast and interactive.</a:t>
            </a:r>
          </a:p>
          <a:p>
            <a:r>
              <a:t>• Image problem solving: integrated GPT-4o Vision and built the pipeline from upload → storage → base64 → analysis → structured output.</a:t>
            </a:r>
          </a:p>
          <a:p>
            <a:r>
              <a:t>• Complex state: managed multi-feature interactions with Context + reducer pattern.</a:t>
            </a:r>
          </a:p>
          <a:p>
            <a:r>
              <a:t>• Security: applied a standard production security stack (tokens, cookies, rate limiting, validation).</a:t>
            </a:r>
          </a:p>
          <a:p/>
          <a:p>
            <a:r>
              <a:t>If asked for examples</a:t>
            </a:r>
          </a:p>
          <a:p>
            <a:r>
              <a:t>• Mention that streaming affects both chat and solution generation.</a:t>
            </a:r>
          </a:p>
          <a:p>
            <a:r>
              <a:t>• Mention that image problems can be handwritten or printed.</a:t>
            </a:r>
          </a:p>
          <a:p/>
          <a:p>
            <a:r>
              <a:t>Transition</a:t>
            </a:r>
          </a:p>
          <a:p>
            <a:r>
              <a:t>• “Here’s where we’re taking the product next.”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Roadmap (how to present without overpromising)</a:t>
            </a:r>
          </a:p>
          <a:p>
            <a:r>
              <a:t>Product features</a:t>
            </a:r>
          </a:p>
          <a:p>
            <a:r>
              <a:t>• Mobile app (React Native): same backend API, native student experience.</a:t>
            </a:r>
          </a:p>
          <a:p>
            <a:r>
              <a:t>• Study groups: collaborative learning + shared folders.</a:t>
            </a:r>
          </a:p>
          <a:p>
            <a:r>
              <a:t>• Analytics dashboard: progress tracking by subject/unit.</a:t>
            </a:r>
          </a:p>
          <a:p>
            <a:r>
              <a:t>• Spaced repetition: ensures long-term retention before the exam.</a:t>
            </a:r>
          </a:p>
          <a:p>
            <a:r>
              <a:t>• Teacher/classroom mode: assignments, monitoring, curated practice.</a:t>
            </a:r>
          </a:p>
          <a:p/>
          <a:p>
            <a:r>
              <a:t>Technical improvements</a:t>
            </a:r>
          </a:p>
          <a:p>
            <a:r>
              <a:t>• Redis caching: faster repeated queries and reduced DB load.</a:t>
            </a:r>
          </a:p>
          <a:p>
            <a:r>
              <a:t>• S3 storage: better scalability for file uploads than storing binaries in Postgres.</a:t>
            </a:r>
          </a:p>
          <a:p>
            <a:r>
              <a:t>• WebSockets: potentially for richer two-way interactions (optional; SSE is already strong).</a:t>
            </a:r>
          </a:p>
          <a:p>
            <a:r>
              <a:t>• PWA/offline mode: limited access without internet.</a:t>
            </a:r>
          </a:p>
          <a:p/>
          <a:p>
            <a:r>
              <a:t>Transition</a:t>
            </a:r>
          </a:p>
          <a:p>
            <a:r>
              <a:t>• “Next are screenshots to visually connect the story to the actual UI.”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to talk through screenshots</a:t>
            </a:r>
          </a:p>
          <a:p>
            <a:r>
              <a:t>• Use this slide as a quick visual tour rather than reading every UI element.</a:t>
            </a:r>
          </a:p>
          <a:p>
            <a:r>
              <a:t>• Suggested pacing:</a:t>
            </a:r>
          </a:p>
          <a:p>
            <a:r>
              <a:t>  1) Landing page: what the product is and who it’s for.</a:t>
            </a:r>
          </a:p>
          <a:p>
            <a:r>
              <a:t>  2) Upload interface: image/text input + subject/difficulty selection.</a:t>
            </a:r>
          </a:p>
          <a:p>
            <a:r>
              <a:t>  3) Solution view: step-by-step structure and math rendering.</a:t>
            </a:r>
          </a:p>
          <a:p>
            <a:r>
              <a:t>  4) Hints view: the four levels and how students progress.</a:t>
            </a:r>
          </a:p>
          <a:p>
            <a:r>
              <a:t>  5) Concept notes: show the variety (definition, formula, common mistake, etc.).</a:t>
            </a:r>
          </a:p>
          <a:p>
            <a:r>
              <a:t>  6) Chat panel: context-aware tutoring + streaming feel.</a:t>
            </a:r>
          </a:p>
          <a:p>
            <a:r>
              <a:t>  7) Study mode: generated variants.</a:t>
            </a:r>
          </a:p>
          <a:p>
            <a:r>
              <a:t>  8) Notes Hub: folders, stars, filters.</a:t>
            </a:r>
          </a:p>
          <a:p/>
          <a:p>
            <a:r>
              <a:t>Tip</a:t>
            </a:r>
          </a:p>
          <a:p>
            <a:r>
              <a:t>• If any screenshot is a placeholder, describe what will go there and what you want the judge to notice.</a:t>
            </a:r>
          </a:p>
          <a:p/>
          <a:p>
            <a:r>
              <a:t>Transition</a:t>
            </a:r>
          </a:p>
          <a:p>
            <a:r>
              <a:t>• “To close, here are the main takeaways in one slide.”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 (recap the full pitch)</a:t>
            </a:r>
          </a:p>
          <a:p>
            <a:r>
              <a:t>• Reinforce that this is a real full-stack system: React frontend, Express/TypeScript backend, PostgreSQL database, production-ready security.</a:t>
            </a:r>
          </a:p>
          <a:p>
            <a:r>
              <a:t>• Emphasize the learning loop: solve → understand → organize → practice.</a:t>
            </a:r>
          </a:p>
          <a:p>
            <a:r>
              <a:t>• Re-state the four learning modes as the key product story.</a:t>
            </a:r>
          </a:p>
          <a:p>
            <a:r>
              <a:t>• Mention scalability: architecture supports more subjects, mobile, and analytics.</a:t>
            </a:r>
          </a:p>
          <a:p/>
          <a:p>
            <a:r>
              <a:t>Ending line</a:t>
            </a:r>
          </a:p>
          <a:p>
            <a:r>
              <a:t>• “ACE AP STEM helps AP students learn smarter, not harder.”</a:t>
            </a:r>
          </a:p>
          <a:p/>
          <a:p>
            <a:r>
              <a:t>Call to action</a:t>
            </a:r>
          </a:p>
          <a:p>
            <a:r>
              <a:t>• If you have a demo URL, invite judges to try uploading a problem and compare the hint system to typical answer-only tools.</a:t>
            </a:r>
          </a:p>
          <a:p/>
          <a:p>
            <a:r>
              <a:t>Transition</a:t>
            </a:r>
          </a:p>
          <a:p>
            <a:r>
              <a:t>• “Now we’re ready for questions—here are the most common ones we expect.”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Q&amp;A guidance (how to answer confidently)</a:t>
            </a:r>
          </a:p>
          <a:p>
            <a:r>
              <a:t>Accuracy</a:t>
            </a:r>
          </a:p>
          <a:p>
            <a:r>
              <a:t>• Say: “We use GPT-4o and we structure prompts to produce step-by-step reasoning. We also show confidence to encourage verification.”</a:t>
            </a:r>
          </a:p>
          <a:p>
            <a:r>
              <a:t>• If pressed: acknowledge AI can be wrong and highlight mitigations (regenerate, hints-first approach, sanity checks like units).</a:t>
            </a:r>
          </a:p>
          <a:p/>
          <a:p>
            <a:r>
              <a:t>Handling incorrect responses</a:t>
            </a:r>
          </a:p>
          <a:p>
            <a:r>
              <a:t>• Mention prompt verification steps, structured formatting, the ability to regenerate, and future plans (e.g., rubric-based checking, unit checking, or multi-pass validation).</a:t>
            </a:r>
          </a:p>
          <a:p/>
          <a:p>
            <a:r>
              <a:t>Privacy</a:t>
            </a:r>
          </a:p>
          <a:p>
            <a:r>
              <a:t>• Explain: user data is stored securely; auth uses tokens; httpOnly refresh cookies; no selling data; production security layers.</a:t>
            </a:r>
          </a:p>
          <a:p>
            <a:r>
              <a:t>• If asked about images: they are stored for the user’s history; can be moved to external storage (S3) as a future improvement.</a:t>
            </a:r>
          </a:p>
          <a:p/>
          <a:p>
            <a:r>
              <a:t>Pricing</a:t>
            </a:r>
          </a:p>
          <a:p>
            <a:r>
              <a:t>• If not finalized, say “We can support a freemium model with usage limits, and a paid plan for unlimited solves and study variants.”</a:t>
            </a:r>
          </a:p>
          <a:p/>
          <a:p>
            <a:r>
              <a:t>Tutor replacement</a:t>
            </a:r>
          </a:p>
          <a:p>
            <a:r>
              <a:t>• Say clearly: “This supplements learning; it doesn’t replace teachers or tutors. It’s best for practice, clarification, and guided problem solving.”</a:t>
            </a:r>
          </a:p>
          <a:p/>
          <a:p>
            <a:r>
              <a:t>Final tip</a:t>
            </a:r>
          </a:p>
          <a:p>
            <a:r>
              <a:t>• When unsure, return to the core value: guided learning + practice + organization in one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AP STEM Companion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Solve, Explain, and Organize AP STEM Problems with Ease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3474720"/>
            <a:ext cx="8534095" cy="2834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466344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Screenshot of main interface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AP Students 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44752"/>
            <a:ext cx="11094415" cy="49103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9344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10454335" cy="3950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STEM courses are challenging - students often get stuck on complex problems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tutoring is expensive ($40-100/hour) and not always available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help understanding concepts, not just answers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problems are hard to find and organize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combines solving, learning, and practicing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 - A Complete Learning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40080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5760720" cy="4178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AP STEM problem (image or text)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AI-powered solutions with step-by-step explanations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progressive hints that guide without giving away answers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underlying concepts with comprehensive notes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unlimited practice variants for mastery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an AI tutor for personalized help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0" y="1353312"/>
            <a:ext cx="4327855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43800" y="1517904"/>
            <a:ext cx="3870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0" y="2039112"/>
            <a:ext cx="359633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2148840"/>
            <a:ext cx="3230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14536" y="2647188"/>
            <a:ext cx="329184" cy="201168"/>
          </a:xfrm>
          <a:prstGeom prst="downArrow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2907792"/>
            <a:ext cx="3596335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3017520"/>
            <a:ext cx="3230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14536" y="3515868"/>
            <a:ext cx="329184" cy="201168"/>
          </a:xfrm>
          <a:prstGeom prst="downArrow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3776472"/>
            <a:ext cx="359633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886200"/>
            <a:ext cx="3230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/ Hints / Concepts / Practice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AP STEM Subjects Supported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07592"/>
            <a:ext cx="5318608" cy="5138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72184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&amp; Chemistry: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24448" y="1307592"/>
            <a:ext cx="5318608" cy="5138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1472184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Biology, CS &amp; Math: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901952"/>
            <a:ext cx="4678528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Physics 1 &amp; 2 (Algebra-Based)</a:t>
            </a:r>
            <a:endParaRPr lang="en-US" sz="18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Physics C: Mechanics</a:t>
            </a:r>
            <a:endParaRPr lang="en-US" sz="18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Physics C: Electricity &amp; Magnetism</a:t>
            </a:r>
            <a:endParaRPr lang="en-US" sz="18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Chemistry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4488" y="1901952"/>
            <a:ext cx="4678528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Biology</a:t>
            </a:r>
            <a:endParaRPr lang="en-US" sz="18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Computer Science A &amp; Principles</a:t>
            </a:r>
            <a:endParaRPr lang="en-US" sz="18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Pre-calculus</a:t>
            </a:r>
            <a:endParaRPr lang="en-US" sz="18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Calculus AB &amp; BC</a:t>
            </a:r>
            <a:endParaRPr lang="en-US" sz="18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Statistics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Full-Stack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07592"/>
            <a:ext cx="3484778" cy="41788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72184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901952"/>
            <a:ext cx="2844698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(Latest)</a:t>
            </a:r>
            <a:endParaRPr lang="en-US" sz="17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7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State Management</a:t>
            </a:r>
            <a:endParaRPr lang="en-US" sz="17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KaTeX for Math Rendering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53458" y="1307592"/>
            <a:ext cx="3484778" cy="41788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2058" y="1472184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73498" y="1901952"/>
            <a:ext cx="2844698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7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7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7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58277" y="1307592"/>
            <a:ext cx="3484778" cy="41788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6877" y="1472184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Services: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78317" y="1901952"/>
            <a:ext cx="2844698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Integration</a:t>
            </a:r>
            <a:endParaRPr lang="en-US" sz="17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Email Service</a:t>
            </a:r>
            <a:endParaRPr lang="en-US" sz="17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7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(SSE)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5715000"/>
            <a:ext cx="11094415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diagram: Frontend ↔ Backend ↔ Database ↔ OpenAI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126480" cy="5093208"/>
          </a:xfrm>
          <a:prstGeom prst="rect">
            <a:avLst/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36192"/>
            <a:ext cx="5669280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components/          # 40+ Reusable Components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layout/         # Header, Footer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problem-solving/ # Solution, Hints, Concepts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chat/           # AI Tutor Interface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notes/          # Notes Hub Components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primitives/     # Button, Input, Card, etc.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pages/              # 15 Route Pages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context/            # Global State (1000+ lines)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utils/              # API Client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styles/             # CSS Modules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1353312"/>
            <a:ext cx="4602175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9480" y="1517904"/>
            <a:ext cx="4144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69480" y="1883664"/>
            <a:ext cx="4144975" cy="440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Component-based architecture for reusability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state management with Context API + useReducer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100+ action types for predictable state updates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Backend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126480" cy="5093208"/>
          </a:xfrm>
          <a:prstGeom prst="rect">
            <a:avLst/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36192"/>
            <a:ext cx="5669280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backend/src/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controllers/        # Business Logic (12 controllers)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routes/            # API Endpoints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services/          # Core Services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openaiService  # AI Integration (1200+ lines)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chatService    # Chat Management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emailService   # Password Reset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storageService # File Handling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middleware/        # Auth, Error Handling, Security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config/            # Environment, Logger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1353312"/>
            <a:ext cx="4602175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69480" y="1517904"/>
            <a:ext cx="4144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69480" y="1883664"/>
            <a:ext cx="4144975" cy="440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RESTful API design with proper separation of concerns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 for type safety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Middleware stack for security (Helmet, CORS, Rate Limiting)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58368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5943600" cy="4133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- Authentication, profiles, roles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- Uploaded problems with metadata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- AI-generated step-by-step solutions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- Progressive hints (4 types)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ConceptNote - Comprehensive learning materials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ChatThread/Message - Conversation history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SavedItem/Folder - Organization system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StudySession - Practice variant tracking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1353312"/>
            <a:ext cx="4144975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26680" y="1517904"/>
            <a:ext cx="3687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18120" y="2084832"/>
            <a:ext cx="350489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for type-safe queries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indexing for performance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deletes for data integrity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database tables total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8120" y="4187952"/>
            <a:ext cx="3504895" cy="184708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4882896"/>
            <a:ext cx="3504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showing relationships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Problem Solving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67512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6035040" cy="4133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uploads image OR types problem text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Selects AP subject and difficulty level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analyzes problem (including images via GPT-4o Vision)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Generates structured response in seconds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Solution Modes: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Solution - Step-by-step with explanations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Hints - Progressive guidance (4 levels)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Concept Notes - 5-7 detailed learning notes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Path: SolveProblemsPage.js → api.js → problemsController.ts → openaiService.ts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0" y="1353312"/>
            <a:ext cx="4053535" cy="5093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3671316"/>
            <a:ext cx="4053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visual: upload → analysis → outputs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30936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See: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steps with titles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explanations for each step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highlighted (LaTeX rendered)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shown clearly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with confidence score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Previous/Next or Show All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59943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 Structure: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919472"/>
            <a:ext cx="6309360" cy="1481328"/>
          </a:xfrm>
          <a:prstGeom prst="rect">
            <a:avLst/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5102352"/>
            <a:ext cx="585216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Identify Given Values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Choose Appropriate Formula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Substitute Values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Calculate Result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5: Verify Answer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Answer: v = 14 m/s (Confidence: 95%)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23760" y="1353312"/>
            <a:ext cx="4419295" cy="5093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3671316"/>
            <a:ext cx="4419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solution steps UI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Four-Level Hint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40080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Types: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5760720" cy="4133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Conceptual - "What principles apply here?"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Procedural - "What approach should you take?"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Diagnostic - Specific calculations needed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Answer - Complete solution (optional)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Encourages active learning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solve problems themselves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Builds problem-solving skills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gives away answer immediately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0" y="1353312"/>
            <a:ext cx="4327855" cy="5093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3671316"/>
            <a:ext cx="4327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hints UI (4 levels)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Concept Notes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49224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Note Types Generated: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5852160" cy="4133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Definition - Core concepts (200-400 words)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Formula - Equations with variable explanations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Example - Worked problems showing application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Tip - Problem-solving strategies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Common Mistake - Pitfalls to avoid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Application - Real-world connections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Value: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5-7 detailed notes per problem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Includes formula derivations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related topics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Helps understand WHY, not just HOW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06640" y="1353312"/>
            <a:ext cx="4236415" cy="5093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3671316"/>
            <a:ext cx="4236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concept notes UI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Tutoring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49224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5852160" cy="4133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Conversational interface in sidebar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Context-aware (knows current problem)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Socratic method - guides discovery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Streaming responses (real-time typing)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chat history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Server-Sent Events (SSE) for streaming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Thread-based conversations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 model selection (GPT-4o vs 4o-mini)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management (4000 context limit)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Path: ChatPanel.js → chatController.ts → chatService.ts → OpenAI 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6640" y="1353312"/>
            <a:ext cx="4236415" cy="5093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3671316"/>
            <a:ext cx="4236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chat panel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Practice Variants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40080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Study Modes: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5760720" cy="4133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Quick Practice - Fast-paced warmup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Deep Dive - Conceptual walkthroughs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Exam Simulation - Timed with difficulty ramp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a saved problem as "anchor"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generates 3 unique variants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Each variant tests same concepts, different scenarios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Built-in hints for each variant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Launch variants in solve-problems page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0" y="1353312"/>
            <a:ext cx="4327855" cy="5093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3671316"/>
            <a:ext cx="4327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study mode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Organization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49224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5852160" cy="4133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 any solution, hint, or concept note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custom folders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 favorites for quick access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across all content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type, subject, difficulty, tags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Drag-and-drop organization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Benefits: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lose important content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personal study library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review before exams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learning progress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06640" y="1353312"/>
            <a:ext cx="4236415" cy="5093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3671316"/>
            <a:ext cx="4236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notes 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5318608" cy="449884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4678528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tokens (60-minute expiry)</a:t>
            </a:r>
            <a:endParaRPr lang="en-US" sz="17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tokens in httpOnly cookies</a:t>
            </a:r>
            <a:endParaRPr lang="en-US" sz="17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integration</a:t>
            </a:r>
            <a:endParaRPr lang="en-US" sz="17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reset via email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24448" y="1353312"/>
            <a:ext cx="5318608" cy="449884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517904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4488" y="2084832"/>
            <a:ext cx="4678528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 (HTTP headers)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whitelist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(100 req/15min)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(10 rounds)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with Zod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 (Prisma)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Path: auth.ts middleware → authController.ts → JWT verification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67512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Integration Deep Dive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6035040" cy="4133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backend/src/services/openaiService.ts (1200+ lines)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generateSolution() - Step-by-step solutions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generateHints() - Progressive hints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generateConceptNotes() - Learning materials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generateStudyVariants() - Practice problems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generateChatResponse() - Conversational AI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Features: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Vision capability for image problems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text extraction from images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selection based on complexity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Timeout handling with fallbacks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Retry logic for transient errors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0" y="1353312"/>
            <a:ext cx="4053535" cy="5093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3671316"/>
            <a:ext cx="4053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OpenAI service modules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Vision-Enabled Problem Solving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58368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Image Upload Works: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5943600" cy="4133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uploads PNG, JPG, or PDF (max 10MB)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File stored in PostgreSQL as binary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Converted to base64 for OpenAI API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GPT-4o Vision analyzes image content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Problem text extracted automatically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Enables searching image-based problems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Formats: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JPEG, PNG, GIF, WebP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documents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Handwritten or printed problems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0" y="1353312"/>
            <a:ext cx="4144975" cy="5093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3671316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image upload + extraction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(SSE)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03504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SSE: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server-to-client communication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without WebSockets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browser support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8221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142232"/>
            <a:ext cx="6035040" cy="2304288"/>
          </a:xfrm>
          <a:prstGeom prst="rect">
            <a:avLst/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4325112"/>
            <a:ext cx="55778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Backend sends chunks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res.write(`data: ${JSON.stringify({type:'chunk', content})}\n\n`)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Frontend receives stream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eventSource = new EventSource(url)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eventSource.onmessage = (event) =&gt;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Display text as it arrives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353312"/>
            <a:ext cx="4693615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78040" y="1517904"/>
            <a:ext cx="4236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1883664"/>
            <a:ext cx="4236415" cy="440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responses appear word-by-word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 conversation feel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waiting for complete response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 + useReducer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126480" cy="5093208"/>
          </a:xfrm>
          <a:prstGeom prst="rect">
            <a:avLst/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36192"/>
            <a:ext cx="5669280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frontend/src/context/AppContext.js (1080+ lines)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State Includes: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Authentication (user, tokens)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Current problem &amp; AI outputs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Chat history &amp; active thread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Saved items &amp; folders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Study mode selections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UI state (loading, errors)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100+ Action Types: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LOGIN, LOGOUT, SET_USER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SET_PROBLEM_SOLUTION, SET_PROBLEM_HINTS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ADD_CHAT_MESSAGE, SET_ACTIVE_THREAD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SET_SAVED_ITEMS, SET_ACTIVE_FOLDER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1353312"/>
            <a:ext cx="4602175" cy="5093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3671316"/>
            <a:ext cx="4602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state flow (dispatch → reducer → UI)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Endpoints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6035040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5394960" cy="4133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/auth/register - Create account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/auth/login - Get tokens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/auth/forgot-password - Reset email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Problems: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 /api/problems - List/Create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/api/problems/:id/solutions - Generate solution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/api/problems/:id/hints - Generate hints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Chat: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/api/chat/threads - Create thread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/api/chat/threads/:id/stream - SSE stream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40+ API endpoints across 12 route files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1353312"/>
            <a:ext cx="4693615" cy="50932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3671316"/>
            <a:ext cx="46936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client → REST API → services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5318608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4861408" cy="440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AppError class with status codes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asyncHandler wrapper for all routes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Environment-aware responses (dev vs prod)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error logging with Pino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4448" y="1353312"/>
            <a:ext cx="5318608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517904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53048" y="1883664"/>
            <a:ext cx="4861408" cy="440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Try-catch in all async functions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Toast notifications for user feedback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error state in context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Graceful degradation on failures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44488" y="4005072"/>
            <a:ext cx="4678528" cy="2212848"/>
          </a:xfrm>
          <a:prstGeom prst="rect">
            <a:avLst/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73088" y="4187952"/>
            <a:ext cx="4221328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generateSolution(problemId)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toast.success('Solution generated!')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(error)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toast.error(error.message)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dispatch({ type: 'SET_ERROR', payload: error })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5318608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46785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database indexing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on all list endpoints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compression (gzip)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timeouts (30s-3min)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 (Prisma)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279392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645152"/>
            <a:ext cx="4678528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 for expensive calculations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useCallback for function memoization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opportunities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re-renders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4448" y="1353312"/>
            <a:ext cx="5318608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3048" y="1517904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Optimization: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44488" y="2084832"/>
            <a:ext cx="4678528" cy="4087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(4o-mini for simple tasks)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limiting (4000 max context)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mechanisms on timeout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Development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3484778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883664"/>
            <a:ext cx="3027578" cy="440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backend type safety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Interface definitions for all data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mode enabled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53458" y="1353312"/>
            <a:ext cx="3484778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2058" y="1517904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Organization: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82058" y="1883664"/>
            <a:ext cx="3027578" cy="440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Separation of concerns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responsibility principle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DRY (Don't Repeat Yourself)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naming conventions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58277" y="1353312"/>
            <a:ext cx="3484778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86877" y="1517904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6877" y="1883664"/>
            <a:ext cx="3027578" cy="440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Swagger/OpenAPI on all routes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 code comments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README files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User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11094415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Summary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10271455" cy="4087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Authentication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 up with email or Google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login with JWT tokens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Solving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image or type problem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subject → Get AI solution/hints/concepts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with AI tutor for clarification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Organization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 solutions to Notes Hub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Organize in folders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 favorites, add tags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Practice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Choose Study Mode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AI variants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Practice until mastery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Competitive 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11094415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Unique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10271455" cy="4087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Four AI Outputs from One Problem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 + Hints + Concepts + Chat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learning experience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Progressive Hints System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Scaffolds learning, builds skills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just gives away answers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Practice Variants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Unlimited practice from single problem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concepts, different scenarios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Vision-Enabled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images of handwritten problems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text extraction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Integrated Organization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Notes Hub for all saved content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Search, filter, organize everything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Achievements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11094415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Solved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10271455" cy="4087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1: Real-time AI Responses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Solution: SSE streaming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Natural conversation feel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2: Image Problem Solving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Solution: GPT-4o Vision + base64 encoding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Works with any problem format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3: State Complexity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Solution: Context API + useReducer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Predictable, maintainable state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4: Security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Solution: Multi-layer security stack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Enterprise-grade protection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5318608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4678528" cy="4087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7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study groups</a:t>
            </a:r>
            <a:endParaRPr lang="en-US" sz="17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analytics dashboard</a:t>
            </a:r>
            <a:endParaRPr lang="en-US" sz="17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system</a:t>
            </a:r>
            <a:endParaRPr lang="en-US" sz="17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Teacher/classroom mode</a:t>
            </a:r>
            <a:endParaRPr lang="en-US" sz="17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subject support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24448" y="1353312"/>
            <a:ext cx="5318608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517904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Improvements: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4488" y="2084832"/>
            <a:ext cx="4678528" cy="4087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</a:t>
            </a:r>
            <a:endParaRPr lang="en-US" sz="17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file storage (S3)</a:t>
            </a:r>
            <a:endParaRPr lang="en-US" sz="17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for faster chat</a:t>
            </a:r>
            <a:endParaRPr lang="en-US" sz="17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(PWA)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2602154" cy="24323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40864"/>
            <a:ext cx="26021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Landing page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1353312"/>
            <a:ext cx="2602154" cy="24323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9394" y="2340864"/>
            <a:ext cx="26021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upload interface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0148" y="1353312"/>
            <a:ext cx="2602154" cy="24323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0148" y="2340864"/>
            <a:ext cx="26021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Solution display with steps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40901" y="1353312"/>
            <a:ext cx="2602154" cy="24323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40901" y="2340864"/>
            <a:ext cx="26021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Hints display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2602154" cy="24323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001768"/>
            <a:ext cx="26021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Concept notes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79394" y="4014216"/>
            <a:ext cx="2602154" cy="24323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9394" y="5001768"/>
            <a:ext cx="26021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Chat panel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0148" y="4014216"/>
            <a:ext cx="2602154" cy="24323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0148" y="5001768"/>
            <a:ext cx="26021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Study mode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40901" y="4014216"/>
            <a:ext cx="2602154" cy="24323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0901" y="5001768"/>
            <a:ext cx="26021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Notes Hub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981425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Modern full-stack application (React + Node.js + PostgreSQL)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AI-powered learning with GPT-4o integration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Four learning modes: Solutions, Hints, Concepts, Chat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Comprehensive organization with Notes Hub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Enterprise-grade security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 architecture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Tagline: "Empowering AP students to learn smarter, not harder"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Action: [Demo URL / Contact Info]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 &amp; 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11094415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11094415" cy="5093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17904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Preparation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10271455" cy="4087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accurate is the AI?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We use GPT-4o, one of the most capable models. Solutions include confidence scores. Students should always verify with course materials.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handle incorrect AI responses?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Multiple verification steps in prompts, confidence scoring, and the ability to regenerate solutions.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about data privacy?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All data encrypted, JWT tokens for auth, httpOnly cookies, no selling of user data.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billing/pricing work?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[Insert pricing model if applicable]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it replace a tutor?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It's a supplement, not replacement. Best used alongside traditional learning.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629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AP STEM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28655" y="6629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2026-01-15T16:28:48Z</dcterms:created>
  <dcterms:modified xsi:type="dcterms:W3CDTF">2026-01-15T16:28:48Z</dcterms:modified>
</cp:coreProperties>
</file>